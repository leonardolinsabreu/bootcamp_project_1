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Lato"/>
      <p:regular r:id="rId15"/>
      <p:bold r:id="rId16"/>
      <p:italic r:id="rId17"/>
      <p:boldItalic r:id="rId18"/>
    </p:embeddedFont>
    <p:embeddedFont>
      <p:font typeface="Poppins"/>
      <p:regular r:id="rId19"/>
      <p:bold r:id="rId20"/>
      <p:italic r:id="rId21"/>
      <p:boldItalic r:id="rId22"/>
    </p:embeddedFont>
    <p:embeddedFont>
      <p:font typeface="Lora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ora-bold.fntdata"/><Relationship Id="rId23" Type="http://schemas.openxmlformats.org/officeDocument/2006/relationships/font" Target="fonts/Lor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ora-boldItalic.fntdata"/><Relationship Id="rId25" Type="http://schemas.openxmlformats.org/officeDocument/2006/relationships/font" Target="fonts/Lor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Lato-regular.fntdata"/><Relationship Id="rId14" Type="http://schemas.openxmlformats.org/officeDocument/2006/relationships/slide" Target="slides/slide9.xml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19" Type="http://schemas.openxmlformats.org/officeDocument/2006/relationships/font" Target="fonts/Poppins-regular.fntdata"/><Relationship Id="rId18" Type="http://schemas.openxmlformats.org/officeDocument/2006/relationships/font" Target="fonts/La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e5bcc977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de5bcc977c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5a134ef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d5a134efa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6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png"/><Relationship Id="rId4" Type="http://schemas.openxmlformats.org/officeDocument/2006/relationships/image" Target="../media/image2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png"/><Relationship Id="rId4" Type="http://schemas.openxmlformats.org/officeDocument/2006/relationships/image" Target="../media/image3.png"/><Relationship Id="rId9" Type="http://schemas.openxmlformats.org/officeDocument/2006/relationships/image" Target="../media/image12.png"/><Relationship Id="rId5" Type="http://schemas.openxmlformats.org/officeDocument/2006/relationships/image" Target="../media/image24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25.png"/><Relationship Id="rId6" Type="http://schemas.openxmlformats.org/officeDocument/2006/relationships/image" Target="../media/image2.png"/><Relationship Id="rId7" Type="http://schemas.openxmlformats.org/officeDocument/2006/relationships/image" Target="../media/image11.png"/><Relationship Id="rId8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hyperlink" Target="https://github.com/LeonardoLinsAbreu/Pandas_EDA_Exercicio_1--Intr.Cien.Dados.git" TargetMode="External"/><Relationship Id="rId6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jpg"/><Relationship Id="rId4" Type="http://schemas.openxmlformats.org/officeDocument/2006/relationships/image" Target="../media/image2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11" Type="http://schemas.openxmlformats.org/officeDocument/2006/relationships/hyperlink" Target="https://sites.google.com/view/site-bootcamp-1/p%C3%A1gina-inicial" TargetMode="External"/><Relationship Id="rId10" Type="http://schemas.openxmlformats.org/officeDocument/2006/relationships/image" Target="../media/image28.png"/><Relationship Id="rId9" Type="http://schemas.openxmlformats.org/officeDocument/2006/relationships/hyperlink" Target="https://github.com/LeonardoLinsAbreu" TargetMode="External"/><Relationship Id="rId5" Type="http://schemas.openxmlformats.org/officeDocument/2006/relationships/image" Target="../media/image20.png"/><Relationship Id="rId6" Type="http://schemas.openxmlformats.org/officeDocument/2006/relationships/hyperlink" Target="http://www.linkedin.com/in/leonardo-lins-de-abreu-borges-93074a376" TargetMode="External"/><Relationship Id="rId7" Type="http://schemas.openxmlformats.org/officeDocument/2006/relationships/hyperlink" Target="http://www.linkedin.com/in/leonardo-lins-de-abreu-borges-93074a376" TargetMode="External"/><Relationship Id="rId8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A28DBB"/>
            </a:gs>
            <a:gs pos="100000">
              <a:srgbClr val="615175"/>
            </a:gs>
          </a:gsLst>
          <a:lin ang="5400012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05251" y="1871925"/>
            <a:ext cx="11581500" cy="17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Data Science</a:t>
            </a:r>
            <a:br>
              <a:rPr i="0" lang="en-US" sz="18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r>
              <a:rPr b="1" i="0" lang="en-US" sz="54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Portfolio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80950" y="4038921"/>
            <a:ext cx="11030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900" u="none" cap="none" strike="noStrike">
                <a:solidFill>
                  <a:srgbClr val="D1C4E9"/>
                </a:solidFill>
                <a:latin typeface="Lora"/>
                <a:ea typeface="Lora"/>
                <a:cs typeface="Lora"/>
                <a:sym typeface="Lora"/>
              </a:rPr>
              <a:t>Transformando Dados em Decisões Estratégicas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80950" y="5011517"/>
            <a:ext cx="11030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9D8AF2"/>
                </a:solidFill>
                <a:latin typeface="Lora"/>
                <a:ea typeface="Lora"/>
                <a:cs typeface="Lora"/>
                <a:sym typeface="Lora"/>
              </a:rPr>
              <a:t>ESTUDANTE DE CIÊNCIA DE DADOS </a:t>
            </a:r>
            <a:r>
              <a:rPr b="1" lang="en-US" sz="1600">
                <a:solidFill>
                  <a:srgbClr val="9D8AF2"/>
                </a:solidFill>
                <a:latin typeface="Lora"/>
                <a:ea typeface="Lora"/>
                <a:cs typeface="Lora"/>
                <a:sym typeface="Lora"/>
              </a:rPr>
              <a:t>E MACHINE LEARNING - CEUB</a:t>
            </a:r>
            <a:endParaRPr b="1" sz="1600">
              <a:solidFill>
                <a:srgbClr val="9D8AF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9" name="Google Shape;89;p13"/>
          <p:cNvSpPr/>
          <p:nvPr/>
        </p:nvSpPr>
        <p:spPr>
          <a:xfrm flipH="1" rot="5400000">
            <a:off x="8800200" y="3466200"/>
            <a:ext cx="3695100" cy="3088500"/>
          </a:xfrm>
          <a:prstGeom prst="diagStripe">
            <a:avLst>
              <a:gd fmla="val 50000" name="adj"/>
            </a:avLst>
          </a:prstGeom>
          <a:solidFill>
            <a:srgbClr val="4A2C6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 flipH="1" rot="-5400000">
            <a:off x="-303300" y="303300"/>
            <a:ext cx="3695100" cy="3088500"/>
          </a:xfrm>
          <a:prstGeom prst="diagStripe">
            <a:avLst>
              <a:gd fmla="val 50000" name="adj"/>
            </a:avLst>
          </a:prstGeom>
          <a:solidFill>
            <a:srgbClr val="4A2C6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B2E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9525">
            <a:solidFill>
              <a:srgbClr val="9D8AF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6" name="Google Shape;96;p14" title="PSX_20250604_172239(1).jpg"/>
          <p:cNvPicPr preferRelativeResize="0"/>
          <p:nvPr/>
        </p:nvPicPr>
        <p:blipFill rotWithShape="1">
          <a:blip r:embed="rId4">
            <a:alphaModFix/>
          </a:blip>
          <a:srcRect b="0" l="5563" r="5572" t="0"/>
          <a:stretch/>
        </p:blipFill>
        <p:spPr>
          <a:xfrm>
            <a:off x="1290637" y="2024062"/>
            <a:ext cx="3810000" cy="38100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7" name="Google Shape;97;p14"/>
          <p:cNvSpPr txBox="1"/>
          <p:nvPr/>
        </p:nvSpPr>
        <p:spPr>
          <a:xfrm>
            <a:off x="6381750" y="1455025"/>
            <a:ext cx="5490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D1C4E9"/>
                </a:solidFill>
                <a:latin typeface="Lora"/>
                <a:ea typeface="Lora"/>
                <a:cs typeface="Lora"/>
                <a:sym typeface="Lora"/>
              </a:rPr>
              <a:t>Sobre mim</a:t>
            </a:r>
            <a:endParaRPr sz="16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6381750" y="2269750"/>
            <a:ext cx="5229300" cy="29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Estou atualmente cursando o 1º semestre de Ciência de Dados e Machine Learning. Formado em Marketing (Digital e Data Science). Meus conhecimentos na área de “Ciência de Dados” ainda são básicos, com Python básico, mas irei dar o meu máximo para uma evolução constante e crescimento na área. Sou uma pessoa dedicada, comprometida. Tenho facilidade para trabalhar em equipe, boa comunicação. Busco constantemente aprimorar minhas habilidades e contribuir de forma positiva para o ambiente de trabalho e para o alcance dos objetivos da empresa.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810600" y="621175"/>
            <a:ext cx="1138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9D8AF2"/>
                </a:solidFill>
                <a:latin typeface="Lora"/>
                <a:ea typeface="Lora"/>
                <a:cs typeface="Lora"/>
                <a:sym typeface="Lora"/>
              </a:rPr>
              <a:t>Perfil Profissional</a:t>
            </a:r>
            <a:endParaRPr sz="17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581025" y="581025"/>
            <a:ext cx="57150" cy="619125"/>
          </a:xfrm>
          <a:prstGeom prst="rect">
            <a:avLst/>
          </a:prstGeom>
          <a:solidFill>
            <a:srgbClr val="9D8A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B2E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449859"/>
            <a:ext cx="3486150" cy="30060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2925" y="2449859"/>
            <a:ext cx="3486150" cy="30060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4825" y="2449859"/>
            <a:ext cx="3486150" cy="300603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791000" y="629025"/>
            <a:ext cx="11331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9D8AF2"/>
                </a:solidFill>
                <a:latin typeface="Lora"/>
                <a:ea typeface="Lora"/>
                <a:cs typeface="Lora"/>
                <a:sym typeface="Lora"/>
              </a:rPr>
              <a:t>IDIOMAS &amp; CERTIFICAÇÕES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581025" y="581025"/>
            <a:ext cx="76200" cy="619200"/>
          </a:xfrm>
          <a:prstGeom prst="rect">
            <a:avLst/>
          </a:prstGeom>
          <a:solidFill>
            <a:srgbClr val="9D8A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971550" y="2840384"/>
            <a:ext cx="2705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E6E6FA"/>
                </a:solidFill>
                <a:latin typeface="Lato"/>
                <a:ea typeface="Lato"/>
                <a:cs typeface="Lato"/>
                <a:sym typeface="Lato"/>
              </a:rPr>
              <a:t>🇺🇸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03922" y="3611909"/>
            <a:ext cx="2840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D1C4E9"/>
                </a:solidFill>
                <a:latin typeface="Lora"/>
                <a:ea typeface="Lora"/>
                <a:cs typeface="Lora"/>
                <a:sym typeface="Lora"/>
              </a:rPr>
              <a:t>Inglês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971550" y="4145309"/>
            <a:ext cx="27051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9D8AF2"/>
                </a:solidFill>
                <a:latin typeface="Lato"/>
                <a:ea typeface="Lato"/>
                <a:cs typeface="Lato"/>
                <a:sym typeface="Lato"/>
              </a:rPr>
              <a:t>Nível A1</a:t>
            </a:r>
            <a:endParaRPr>
              <a:solidFill>
                <a:srgbClr val="9D8AF2"/>
              </a:solidFill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971550" y="4699665"/>
            <a:ext cx="27051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6E6FA"/>
                </a:solidFill>
                <a:latin typeface="Lato"/>
                <a:ea typeface="Lato"/>
                <a:cs typeface="Lato"/>
                <a:sym typeface="Lato"/>
              </a:rPr>
              <a:t>Capacidade de compreensão de termos técnicos e leitura básica.</a:t>
            </a:r>
            <a:endParaRPr sz="1500"/>
          </a:p>
        </p:txBody>
      </p:sp>
      <p:sp>
        <p:nvSpPr>
          <p:cNvPr id="114" name="Google Shape;114;p15"/>
          <p:cNvSpPr txBox="1"/>
          <p:nvPr/>
        </p:nvSpPr>
        <p:spPr>
          <a:xfrm>
            <a:off x="4743450" y="2840384"/>
            <a:ext cx="2705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E6E6FA"/>
                </a:solidFill>
                <a:latin typeface="Lato"/>
                <a:ea typeface="Lato"/>
                <a:cs typeface="Lato"/>
                <a:sym typeface="Lato"/>
              </a:rPr>
              <a:t>🇪🇸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675822" y="3611909"/>
            <a:ext cx="2840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D1C4E9"/>
                </a:solidFill>
                <a:latin typeface="Lora"/>
                <a:ea typeface="Lora"/>
                <a:cs typeface="Lora"/>
                <a:sym typeface="Lora"/>
              </a:rPr>
              <a:t>Espanhol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4743450" y="4145309"/>
            <a:ext cx="27051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9D8AF2"/>
                </a:solidFill>
                <a:latin typeface="Lato"/>
                <a:ea typeface="Lato"/>
                <a:cs typeface="Lato"/>
                <a:sym typeface="Lato"/>
              </a:rPr>
              <a:t>Nível B1</a:t>
            </a:r>
            <a:endParaRPr>
              <a:solidFill>
                <a:srgbClr val="9D8AF2"/>
              </a:solidFill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4743450" y="4699665"/>
            <a:ext cx="27051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6E6FA"/>
                </a:solidFill>
                <a:latin typeface="Lato"/>
                <a:ea typeface="Lato"/>
                <a:cs typeface="Lato"/>
                <a:sym typeface="Lato"/>
              </a:rPr>
              <a:t>Comunicação intermediária para leitura e conversação fluida.</a:t>
            </a:r>
            <a:endParaRPr sz="1500"/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10712" y="2840384"/>
            <a:ext cx="71437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8447722" y="3650009"/>
            <a:ext cx="2840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D1C4E9"/>
                </a:solidFill>
                <a:latin typeface="Lora"/>
                <a:ea typeface="Lora"/>
                <a:cs typeface="Lora"/>
                <a:sym typeface="Lora"/>
              </a:rPr>
              <a:t>Certificações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8515350" y="4183409"/>
            <a:ext cx="27051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9D8AF2"/>
                </a:solidFill>
                <a:latin typeface="Lato"/>
                <a:ea typeface="Lato"/>
                <a:cs typeface="Lato"/>
                <a:sym typeface="Lato"/>
              </a:rPr>
              <a:t>Alura Online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515350" y="4646265"/>
            <a:ext cx="2705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6E6FA"/>
                </a:solidFill>
                <a:latin typeface="Lato"/>
                <a:ea typeface="Lato"/>
                <a:cs typeface="Lato"/>
                <a:sym typeface="Lato"/>
              </a:rPr>
              <a:t>• Python Básico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515350" y="4855815"/>
            <a:ext cx="2705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6E6FA"/>
                </a:solidFill>
                <a:latin typeface="Lato"/>
                <a:ea typeface="Lato"/>
                <a:cs typeface="Lato"/>
                <a:sym typeface="Lato"/>
              </a:rPr>
              <a:t>• Matemática em Data Science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B2E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05075"/>
            <a:ext cx="3486150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505075"/>
            <a:ext cx="3486150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505075"/>
            <a:ext cx="3486150" cy="284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853916" y="3552825"/>
            <a:ext cx="294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1C4E9"/>
                </a:solidFill>
                <a:latin typeface="Lora"/>
                <a:ea typeface="Lora"/>
                <a:cs typeface="Lora"/>
                <a:sym typeface="Lora"/>
              </a:rPr>
              <a:t>Pensamento Crítico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923925" y="4095750"/>
            <a:ext cx="28003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6E6FA"/>
                </a:solidFill>
                <a:latin typeface="Lato"/>
                <a:ea typeface="Lato"/>
                <a:cs typeface="Lato"/>
                <a:sym typeface="Lato"/>
              </a:rPr>
              <a:t>Capacidade de analisar dados de forma objetiva para chegar a conclusões fundamentadas.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4625841" y="3235325"/>
            <a:ext cx="29403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D1C4E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rgbClr val="D1C4E9"/>
                </a:solidFill>
                <a:latin typeface="Lora"/>
                <a:ea typeface="Lora"/>
                <a:cs typeface="Lora"/>
                <a:sym typeface="Lora"/>
              </a:rPr>
              <a:t>Adaptabilidade</a:t>
            </a:r>
            <a:endParaRPr b="1" sz="2100">
              <a:solidFill>
                <a:srgbClr val="D1C4E9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E6E6FA"/>
                </a:solidFill>
                <a:latin typeface="Lato"/>
                <a:ea typeface="Lato"/>
                <a:cs typeface="Lato"/>
                <a:sym typeface="Lato"/>
              </a:rPr>
              <a:t>Flexibilidade para aprender novas tecnologias e se ajustar a ambientes dinâmicos e voláteis.</a:t>
            </a:r>
            <a:endParaRPr sz="1500">
              <a:solidFill>
                <a:srgbClr val="E6E6F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D1C4E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8261251" y="3552825"/>
            <a:ext cx="3213300" cy="18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1C4E9"/>
                </a:solidFill>
                <a:latin typeface="Lora"/>
                <a:ea typeface="Lora"/>
                <a:cs typeface="Lora"/>
                <a:sym typeface="Lora"/>
              </a:rPr>
              <a:t>Criatividade e Inovação</a:t>
            </a:r>
            <a:endParaRPr b="1" sz="2000">
              <a:solidFill>
                <a:srgbClr val="D1C4E9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E6E6FA"/>
                </a:solidFill>
                <a:latin typeface="Lato"/>
                <a:ea typeface="Lato"/>
                <a:cs typeface="Lato"/>
                <a:sym typeface="Lato"/>
              </a:rPr>
              <a:t>Busca constante por soluções disruptivas e novas formas de extrair valor dos dados.</a:t>
            </a:r>
            <a:endParaRPr sz="1500">
              <a:solidFill>
                <a:srgbClr val="E6E6F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D1C4E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image.png" id="135" name="Google Shape;13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09787" y="2895600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810600" y="621188"/>
            <a:ext cx="1138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9D8AF2"/>
                </a:solidFill>
                <a:latin typeface="Lora"/>
                <a:ea typeface="Lora"/>
                <a:cs typeface="Lora"/>
                <a:sym typeface="Lora"/>
              </a:rPr>
              <a:t>Soft Skills</a:t>
            </a:r>
            <a:endParaRPr sz="17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581025" y="581025"/>
            <a:ext cx="57150" cy="619125"/>
          </a:xfrm>
          <a:prstGeom prst="rect">
            <a:avLst/>
          </a:prstGeom>
          <a:solidFill>
            <a:srgbClr val="9D8A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8" name="Google Shape;13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2871788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53600" y="2871788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B2E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 txBox="1"/>
          <p:nvPr/>
        </p:nvSpPr>
        <p:spPr>
          <a:xfrm>
            <a:off x="805350" y="621188"/>
            <a:ext cx="1138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9D8AF2"/>
                </a:solidFill>
                <a:latin typeface="Lora"/>
                <a:ea typeface="Lora"/>
                <a:cs typeface="Lora"/>
                <a:sym typeface="Lora"/>
              </a:rPr>
              <a:t>Hard Skills</a:t>
            </a:r>
            <a:endParaRPr sz="17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581025" y="581025"/>
            <a:ext cx="57150" cy="619125"/>
          </a:xfrm>
          <a:prstGeom prst="rect">
            <a:avLst/>
          </a:prstGeom>
          <a:solidFill>
            <a:srgbClr val="9D8A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6" name="Google Shape;14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217539"/>
            <a:ext cx="3486150" cy="34039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2925" y="2217539"/>
            <a:ext cx="3486150" cy="34039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4825" y="2217539"/>
            <a:ext cx="3486150" cy="34039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95500" y="2608064"/>
            <a:ext cx="45720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903922" y="3370064"/>
            <a:ext cx="2840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D1C4E9"/>
                </a:solidFill>
                <a:latin typeface="Lora"/>
                <a:ea typeface="Lora"/>
                <a:cs typeface="Lora"/>
                <a:sym typeface="Lora"/>
              </a:rPr>
              <a:t>Python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971550" y="3951089"/>
            <a:ext cx="27051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E6E6FA"/>
                </a:solidFill>
                <a:latin typeface="Lato"/>
                <a:ea typeface="Lato"/>
                <a:cs typeface="Lato"/>
                <a:sym typeface="Lato"/>
              </a:rPr>
              <a:t>Desenvolvimento de scripts para limpeza de dados, análise estatística e Machine Learning.</a:t>
            </a:r>
            <a:endParaRPr/>
          </a:p>
        </p:txBody>
      </p:sp>
      <p:pic>
        <p:nvPicPr>
          <p:cNvPr descr="image.png" id="152" name="Google Shape;15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34062" y="2608064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4675822" y="3370064"/>
            <a:ext cx="2840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D1C4E9"/>
                </a:solidFill>
                <a:latin typeface="Lora"/>
                <a:ea typeface="Lora"/>
                <a:cs typeface="Lora"/>
                <a:sym typeface="Lora"/>
              </a:rPr>
              <a:t>Pacote Office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4743450" y="3951089"/>
            <a:ext cx="27051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E6E6FA"/>
                </a:solidFill>
                <a:latin typeface="Lato"/>
                <a:ea typeface="Lato"/>
                <a:cs typeface="Lato"/>
                <a:sym typeface="Lato"/>
              </a:rPr>
              <a:t>Domínio avançado de Excel para modelagem financeira e relatórios corporativos.</a:t>
            </a:r>
            <a:endParaRPr/>
          </a:p>
        </p:txBody>
      </p:sp>
      <p:pic>
        <p:nvPicPr>
          <p:cNvPr descr="image.png" id="155" name="Google Shape;155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05962" y="2608064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8447722" y="3370064"/>
            <a:ext cx="2840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D1C4E9"/>
                </a:solidFill>
                <a:latin typeface="Lora"/>
                <a:ea typeface="Lora"/>
                <a:cs typeface="Lora"/>
                <a:sym typeface="Lora"/>
              </a:rPr>
              <a:t>Power BI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8515350" y="3951089"/>
            <a:ext cx="2705100" cy="14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E6E6FA"/>
                </a:solidFill>
                <a:latin typeface="Lato"/>
                <a:ea typeface="Lato"/>
                <a:cs typeface="Lato"/>
                <a:sym typeface="Lato"/>
              </a:rPr>
              <a:t>Criação de dashboards interativos e dinâmicos para visualização de KPIs estratégicos.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B2E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/>
        </p:nvSpPr>
        <p:spPr>
          <a:xfrm>
            <a:off x="810600" y="613538"/>
            <a:ext cx="1138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9D8AF2"/>
                </a:solidFill>
                <a:latin typeface="Lora"/>
                <a:ea typeface="Lora"/>
                <a:cs typeface="Lora"/>
                <a:sym typeface="Lora"/>
              </a:rPr>
              <a:t>Projeto</a:t>
            </a:r>
            <a:endParaRPr sz="17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581025" y="581025"/>
            <a:ext cx="57150" cy="619125"/>
          </a:xfrm>
          <a:prstGeom prst="rect">
            <a:avLst/>
          </a:prstGeom>
          <a:solidFill>
            <a:srgbClr val="9D8A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1200650" y="1990122"/>
            <a:ext cx="549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1C4E9"/>
                </a:solidFill>
                <a:latin typeface="Poppins"/>
                <a:ea typeface="Poppins"/>
                <a:cs typeface="Poppins"/>
                <a:sym typeface="Poppins"/>
              </a:rPr>
              <a:t>Análise Exploratória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1200650" y="2590197"/>
            <a:ext cx="52293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6E6FA"/>
                </a:solidFill>
                <a:latin typeface="Lato"/>
                <a:ea typeface="Lato"/>
                <a:cs typeface="Lato"/>
                <a:sym typeface="Lato"/>
              </a:rPr>
              <a:t>Desenvolvimento de um workflow completo de Análise Exploratória de Dados (EDA) utilizando a biblioteca Pandas para uma base de dados real.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1648775" y="5372825"/>
            <a:ext cx="1604400" cy="4476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9D8A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1200650" y="4136555"/>
            <a:ext cx="5229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6E6FA"/>
                </a:solidFill>
                <a:latin typeface="Lato"/>
                <a:ea typeface="Lato"/>
                <a:cs typeface="Lato"/>
                <a:sym typeface="Lato"/>
              </a:rPr>
              <a:t>Limpeza e higienização de dados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1200650" y="4460405"/>
            <a:ext cx="5229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6E6FA"/>
                </a:solidFill>
                <a:latin typeface="Lato"/>
                <a:ea typeface="Lato"/>
                <a:cs typeface="Lato"/>
                <a:sym typeface="Lato"/>
              </a:rPr>
              <a:t>Identificação de outliers e tendências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1200650" y="4784255"/>
            <a:ext cx="5229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6E6FA"/>
                </a:solidFill>
                <a:latin typeface="Lato"/>
                <a:ea typeface="Lato"/>
                <a:cs typeface="Lato"/>
                <a:sym typeface="Lato"/>
              </a:rPr>
              <a:t>Geração de estatísticas descritivas</a:t>
            </a:r>
            <a:endParaRPr/>
          </a:p>
        </p:txBody>
      </p:sp>
      <p:pic>
        <p:nvPicPr>
          <p:cNvPr descr="image.png"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650" y="415560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650" y="447945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650" y="480330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63700" y="5504222"/>
            <a:ext cx="184800" cy="18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2153550" y="5504217"/>
            <a:ext cx="100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sng">
                <a:solidFill>
                  <a:srgbClr val="9D8AF2"/>
                </a:solidFill>
                <a:latin typeface="Lato"/>
                <a:ea typeface="Lato"/>
                <a:cs typeface="Lato"/>
                <a:sym typeface="La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Repositório</a:t>
            </a:r>
            <a:endParaRPr>
              <a:solidFill>
                <a:srgbClr val="9D8AF2"/>
              </a:solidFill>
            </a:endParaRPr>
          </a:p>
        </p:txBody>
      </p:sp>
      <p:pic>
        <p:nvPicPr>
          <p:cNvPr id="175" name="Google Shape;175;p18" title="images.png"/>
          <p:cNvPicPr preferRelativeResize="0"/>
          <p:nvPr/>
        </p:nvPicPr>
        <p:blipFill rotWithShape="1">
          <a:blip r:embed="rId6">
            <a:alphaModFix/>
          </a:blip>
          <a:srcRect b="16667" l="0" r="0" t="16667"/>
          <a:stretch/>
        </p:blipFill>
        <p:spPr>
          <a:xfrm>
            <a:off x="7020425" y="2012977"/>
            <a:ext cx="4248000" cy="2832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B2E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 txBox="1"/>
          <p:nvPr/>
        </p:nvSpPr>
        <p:spPr>
          <a:xfrm>
            <a:off x="810600" y="613538"/>
            <a:ext cx="1138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9D8AF2"/>
                </a:solidFill>
                <a:latin typeface="Lora"/>
                <a:ea typeface="Lora"/>
                <a:cs typeface="Lora"/>
                <a:sym typeface="Lora"/>
              </a:rPr>
              <a:t>Testemunhos e Recomendações</a:t>
            </a:r>
            <a:endParaRPr sz="17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581025" y="581025"/>
            <a:ext cx="57300" cy="619200"/>
          </a:xfrm>
          <a:prstGeom prst="rect">
            <a:avLst/>
          </a:prstGeom>
          <a:solidFill>
            <a:srgbClr val="9D8A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19" title="IMG-20260317-WA0011.jpg"/>
          <p:cNvPicPr preferRelativeResize="0"/>
          <p:nvPr/>
        </p:nvPicPr>
        <p:blipFill rotWithShape="1">
          <a:blip r:embed="rId3">
            <a:alphaModFix/>
          </a:blip>
          <a:srcRect b="3166" l="0" r="0" t="3175"/>
          <a:stretch/>
        </p:blipFill>
        <p:spPr>
          <a:xfrm>
            <a:off x="1023675" y="1593413"/>
            <a:ext cx="4375200" cy="2304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581025" y="4324100"/>
            <a:ext cx="54894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1C4E9"/>
                </a:solidFill>
                <a:latin typeface="Lora"/>
                <a:ea typeface="Lora"/>
                <a:cs typeface="Lora"/>
                <a:sym typeface="Lora"/>
              </a:rPr>
              <a:t>Trabalho sobre Modelo Iterativo e Incremental</a:t>
            </a:r>
            <a:endParaRPr b="1" sz="1800">
              <a:solidFill>
                <a:srgbClr val="D1C4E9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6188200" y="1556350"/>
            <a:ext cx="136800" cy="4533600"/>
          </a:xfrm>
          <a:prstGeom prst="rect">
            <a:avLst/>
          </a:prstGeom>
          <a:solidFill>
            <a:srgbClr val="9D8A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6671675" y="4129000"/>
            <a:ext cx="52605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D1C4E9"/>
                </a:solidFill>
                <a:latin typeface="Lora"/>
                <a:ea typeface="Lora"/>
                <a:cs typeface="Lora"/>
                <a:sym typeface="Lora"/>
              </a:rPr>
              <a:t>Trabalho sobre Sistema de Informação - Playstation App</a:t>
            </a:r>
            <a:endParaRPr b="1" sz="1800">
              <a:solidFill>
                <a:srgbClr val="D1C4E9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D1C4E9"/>
              </a:solidFill>
            </a:endParaRPr>
          </a:p>
        </p:txBody>
      </p:sp>
      <p:pic>
        <p:nvPicPr>
          <p:cNvPr id="186" name="Google Shape;186;p19" title="IMG-20260324-WA0045.jpg"/>
          <p:cNvPicPr preferRelativeResize="0"/>
          <p:nvPr/>
        </p:nvPicPr>
        <p:blipFill rotWithShape="1">
          <a:blip r:embed="rId4">
            <a:alphaModFix/>
          </a:blip>
          <a:srcRect b="3166" l="0" r="0" t="3175"/>
          <a:stretch/>
        </p:blipFill>
        <p:spPr>
          <a:xfrm>
            <a:off x="7114325" y="1495875"/>
            <a:ext cx="4375200" cy="2304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790725" y="5112925"/>
            <a:ext cx="48411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“Trabalhar com o Leonardo foi uma experiência incrível. Ele sempre trouxe soluções criativas e garantiu que nosso projeto fosse concluído com qualidade.” - Pedro Lima.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7114325" y="5218550"/>
            <a:ext cx="4375200" cy="10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“Recomendo o Leonardo para qualquer pessoa que queira um trabalho bem feito. Ele é organizado, criativo e muito fácil de colaborar.” - Vitor Calasans.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C1C1C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B2E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305251" y="2573100"/>
            <a:ext cx="11581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1C4E9"/>
                </a:solidFill>
                <a:latin typeface="Lora"/>
                <a:ea typeface="Lora"/>
                <a:cs typeface="Lora"/>
                <a:sym typeface="Lora"/>
              </a:rPr>
              <a:t>Sinta-se à vontade para entrar em contato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descr="image.png" id="195" name="Google Shape;19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3810000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1238250" y="3837375"/>
            <a:ext cx="4419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E6E6FA"/>
                </a:solidFill>
                <a:latin typeface="Lora"/>
                <a:ea typeface="Lora"/>
                <a:cs typeface="Lora"/>
                <a:sym typeface="Lora"/>
              </a:rPr>
              <a:t>leonardo.lab999@gmail.com</a:t>
            </a:r>
            <a:endParaRPr sz="16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descr="image.png" id="197" name="Google Shape;19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810000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6858000" y="3822075"/>
            <a:ext cx="4591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u="sng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</a:t>
            </a:r>
            <a:r>
              <a:rPr i="0" lang="en-US" sz="1700" u="sng" cap="none" strike="noStrike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inkedin</a:t>
            </a:r>
            <a:endParaRPr sz="2000" u="sng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descr="image.png" id="199" name="Google Shape;199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4686300"/>
            <a:ext cx="27622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1238250" y="4713675"/>
            <a:ext cx="4419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u="sng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</a:t>
            </a:r>
            <a:endParaRPr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descr="image.png" id="201" name="Google Shape;201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381750" y="4686300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6858000" y="4698375"/>
            <a:ext cx="3650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u="sng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Site</a:t>
            </a:r>
            <a:endParaRPr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814875" y="613538"/>
            <a:ext cx="1138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9D8AF2"/>
                </a:solidFill>
                <a:latin typeface="Lora"/>
                <a:ea typeface="Lora"/>
                <a:cs typeface="Lora"/>
                <a:sym typeface="Lora"/>
              </a:rPr>
              <a:t>Vamos Conversar?</a:t>
            </a:r>
            <a:endParaRPr sz="17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581025" y="581025"/>
            <a:ext cx="57150" cy="619125"/>
          </a:xfrm>
          <a:prstGeom prst="rect">
            <a:avLst/>
          </a:prstGeom>
          <a:solidFill>
            <a:srgbClr val="9D8A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305251" y="2257425"/>
            <a:ext cx="11581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Obrigado!</a:t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5381625" y="3400425"/>
            <a:ext cx="1428900" cy="57300"/>
          </a:xfrm>
          <a:prstGeom prst="rect">
            <a:avLst/>
          </a:prstGeom>
          <a:solidFill>
            <a:srgbClr val="9D8A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581025" y="3937175"/>
            <a:ext cx="1103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 ciência de dados é o futuro, e eu estou pronto para construí-lo.</a:t>
            </a:r>
            <a:endParaRPr/>
          </a:p>
        </p:txBody>
      </p:sp>
      <p:sp>
        <p:nvSpPr>
          <p:cNvPr id="213" name="Google Shape;213;p21"/>
          <p:cNvSpPr/>
          <p:nvPr/>
        </p:nvSpPr>
        <p:spPr>
          <a:xfrm flipH="1" rot="-5400000">
            <a:off x="-303300" y="303300"/>
            <a:ext cx="3695100" cy="3088500"/>
          </a:xfrm>
          <a:prstGeom prst="diagStripe">
            <a:avLst>
              <a:gd fmla="val 50000" name="adj"/>
            </a:avLst>
          </a:prstGeom>
          <a:solidFill>
            <a:srgbClr val="4A2C6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 flipH="1" rot="5400000">
            <a:off x="8797950" y="3463800"/>
            <a:ext cx="3699900" cy="3088500"/>
          </a:xfrm>
          <a:prstGeom prst="diagStripe">
            <a:avLst>
              <a:gd fmla="val 50000" name="adj"/>
            </a:avLst>
          </a:prstGeom>
          <a:solidFill>
            <a:srgbClr val="4A2C6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